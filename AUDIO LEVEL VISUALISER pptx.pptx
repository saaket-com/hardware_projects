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4660"/>
  </p:normalViewPr>
  <p:slideViewPr>
    <p:cSldViewPr snapToGrid="0">
      <p:cViewPr>
        <p:scale>
          <a:sx n="75" d="100"/>
          <a:sy n="75" d="100"/>
        </p:scale>
        <p:origin x="6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782393"/>
          </a:xfrm>
        </p:spPr>
        <p:txBody>
          <a:bodyPr>
            <a:normAutofit fontScale="90000"/>
          </a:bodyPr>
          <a:lstStyle/>
          <a:p>
            <a:r>
              <a:rPr lang="en-IN" b="1" u="sng" dirty="0" smtClean="0">
                <a:latin typeface="Algerian" panose="04020705040A02060702" pitchFamily="82" charset="0"/>
              </a:rPr>
              <a:t>AUDIO LEVEL VISUALISER 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666" y="1777285"/>
            <a:ext cx="7854480" cy="4752304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SUBJECT:- ELECTRONIC WORKSHOP</a:t>
            </a:r>
          </a:p>
          <a:p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CLASS:- ET1(E15)</a:t>
            </a:r>
          </a:p>
          <a:p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GROUP MEMBER:-</a:t>
            </a:r>
          </a:p>
          <a:p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GROUP MEMBER:-</a:t>
            </a:r>
          </a:p>
          <a:p>
            <a:pPr marL="457200" indent="-457200">
              <a:buAutoNum type="arabicPeriod"/>
            </a:pP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PRUTHVIRAJ SANJAY KUMAR PATIL(202501070098)</a:t>
            </a:r>
          </a:p>
          <a:p>
            <a:pPr marL="457200" indent="-457200">
              <a:buAutoNum type="arabicPeriod"/>
            </a:pP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PAWAN BALU GORAD(202501070093)</a:t>
            </a:r>
          </a:p>
          <a:p>
            <a:pPr marL="457200" indent="-457200">
              <a:buAutoNum type="arabicPeriod"/>
            </a:pP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PRADYUN DHAMENDRA KAMBLE(202501070097)</a:t>
            </a:r>
          </a:p>
          <a:p>
            <a:pPr marL="457200" indent="-457200">
              <a:buAutoNum type="arabicPeriod"/>
            </a:pP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SAAKET HARISH KULKARNI(202501070102)</a:t>
            </a:r>
            <a:endParaRPr lang="en-IN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756" y="4821083"/>
            <a:ext cx="3441270" cy="2882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356" y="1"/>
            <a:ext cx="4813644" cy="292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35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911181"/>
          </a:xfrm>
        </p:spPr>
        <p:txBody>
          <a:bodyPr/>
          <a:lstStyle/>
          <a:p>
            <a:r>
              <a:rPr lang="en-IN" u="sng" dirty="0" smtClean="0">
                <a:latin typeface="Algerian" panose="04020705040A02060702" pitchFamily="82" charset="0"/>
              </a:rPr>
              <a:t>INTRODUCTION</a:t>
            </a:r>
            <a:endParaRPr lang="en-IN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972" y="1918951"/>
            <a:ext cx="9890974" cy="467503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An audio visualizer is an electronic circuit that converts audio signal into visual indicators </a:t>
            </a:r>
            <a:r>
              <a:rPr lang="en-IN" b="1" dirty="0" err="1" smtClean="0">
                <a:solidFill>
                  <a:schemeClr val="bg1"/>
                </a:solidFill>
              </a:rPr>
              <a:t>ie</a:t>
            </a:r>
            <a:r>
              <a:rPr lang="en-IN" b="1" dirty="0" smtClean="0">
                <a:solidFill>
                  <a:schemeClr val="bg1"/>
                </a:solidFill>
              </a:rPr>
              <a:t> led allowing to check the variation of sound level.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In this project, an audio input is captured using microphone and the output is glow of led that glows according to strength of audio signals.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The main objective is to understand the basic principle of audio and signal processing.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01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1104364"/>
          </a:xfrm>
        </p:spPr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Why this ?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983346"/>
            <a:ext cx="9554492" cy="444321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/>
              <a:t>We choose </a:t>
            </a:r>
            <a:r>
              <a:rPr lang="en-IN" b="1" dirty="0"/>
              <a:t>audio level visualizer because it helps us to understand practical applications of basic electronics concepts such as microphones, ICs, Led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/>
              <a:t>This project give a brief information of audio signal processing  where audio signals into electrical signals which gives visual output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/>
              <a:t>This project allow allowed as to understand basics of PCB fabrication and learn essential skills like etching, drilling, soldering etc. </a:t>
            </a:r>
          </a:p>
        </p:txBody>
      </p:sp>
    </p:spTree>
    <p:extLst>
      <p:ext uri="{BB962C8B-B14F-4D97-AF65-F5344CB8AC3E}">
        <p14:creationId xmlns:p14="http://schemas.microsoft.com/office/powerpoint/2010/main" val="189590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969135"/>
            <a:ext cx="8001000" cy="56345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Objective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983346"/>
            <a:ext cx="10430256" cy="435305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To design and implement an audio level visualizer circuit that converts audio signals into corresponding visual led indications based on sound intensity.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To understand the working audio input devices such as microphones and process of signal amplification and conditioning.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To gain practical knowledge of printed circuit board(PCB) fabrication including layout design, etching, drilling and soldering techniques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85424"/>
          </a:xfrm>
        </p:spPr>
        <p:txBody>
          <a:bodyPr/>
          <a:lstStyle/>
          <a:p>
            <a:r>
              <a:rPr lang="en-IN" b="1" u="sng" dirty="0" smtClean="0">
                <a:latin typeface="Algerian" panose="04020705040A02060702" pitchFamily="82" charset="0"/>
              </a:rPr>
              <a:t>Block diagram 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790163"/>
            <a:ext cx="10430256" cy="468791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Sound source --- Microphone --- Pre-amplifier --- Lm3914 level detector --- led display (bar mode/ dot mode) --- Power supply {battery}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The block diagram represents the flow of signal from audio (microphone) to visual output (led).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1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911181"/>
          </a:xfrm>
        </p:spPr>
        <p:txBody>
          <a:bodyPr/>
          <a:lstStyle/>
          <a:p>
            <a:pPr algn="ctr"/>
            <a:r>
              <a:rPr lang="en-IN" b="1" i="1" u="sng" dirty="0" smtClean="0"/>
              <a:t>Working principle</a:t>
            </a:r>
            <a:endParaRPr lang="en-IN" b="1" i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2112135"/>
            <a:ext cx="10546165" cy="432730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circuit is powered using a 9V DC battery, which supplies power to the LM3914 IC, microphone, and LEDs. Proper grounding is provided to ensure noise-free operation of the circuit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microphone is used as the input device. It senses sound waves from the environment and converts them into a small electrical signal whose amplitude depends on the intensity of the sound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Since the microphone output is very weak, a pre-amplification and signal conditioning stage is used. This stage consists of a 10k potentiometer and resistors, which help in amplifying the signal and adjusting the sensitivity of the circuit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The amplified audio signal is fed to the input pin of the LM3914 IC. The potentiometer allows the user to control how many LEDs glow for a given sound level.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179832"/>
              </p:ext>
            </p:extLst>
          </p:nvPr>
        </p:nvGraphicFramePr>
        <p:xfrm>
          <a:off x="684213" y="2326982"/>
          <a:ext cx="8534400" cy="332374"/>
        </p:xfrm>
        <a:graphic>
          <a:graphicData uri="http://schemas.openxmlformats.org/drawingml/2006/table">
            <a:tbl>
              <a:tblPr/>
              <a:tblGrid>
                <a:gridCol w="380845"/>
                <a:gridCol w="8153555"/>
              </a:tblGrid>
              <a:tr h="332374">
                <a:tc>
                  <a:txBody>
                    <a:bodyPr/>
                    <a:lstStyle/>
                    <a:p>
                      <a:pPr fontAlgn="t"/>
                      <a:endParaRPr lang="en-IN" sz="1600" dirty="0">
                        <a:effectLst/>
                      </a:endParaRPr>
                    </a:p>
                  </a:txBody>
                  <a:tcPr marL="138489" marR="138489" marT="41547" marB="415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83094" marR="83094" marT="41547" marB="415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79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V="1">
            <a:off x="684212" y="-1996224"/>
            <a:ext cx="8001000" cy="153258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515156"/>
            <a:ext cx="10816622" cy="591140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LM3914 IC acts as a voltage level detector and LED driver. It internally compares the input voltage with 10 equally spaced reference voltage levels.</a:t>
            </a:r>
          </a:p>
          <a:p>
            <a:r>
              <a:rPr lang="en-US" b="1" dirty="0">
                <a:solidFill>
                  <a:schemeClr val="bg1"/>
                </a:solidFill>
              </a:rPr>
              <a:t>Depending on the magnitude of the input signal, the LM3914 activates the corresponding output pins, causing the connected LEDs to glow sequentially.</a:t>
            </a:r>
          </a:p>
          <a:p>
            <a:r>
              <a:rPr lang="en-US" b="1" dirty="0">
                <a:solidFill>
                  <a:schemeClr val="bg1"/>
                </a:solidFill>
              </a:rPr>
              <a:t>The LEDs are connected to the output pins of LM3914 in bar mode, where multiple LEDs glow simultaneously as the sound level increases.</a:t>
            </a:r>
          </a:p>
          <a:p>
            <a:r>
              <a:rPr lang="en-US" b="1" dirty="0">
                <a:solidFill>
                  <a:schemeClr val="bg1"/>
                </a:solidFill>
              </a:rPr>
              <a:t>A 100Ω resistor is used to limit the current flowing through the LEDs, thereby protecting them from damage.</a:t>
            </a:r>
          </a:p>
          <a:p>
            <a:r>
              <a:rPr lang="en-US" b="1" dirty="0">
                <a:solidFill>
                  <a:schemeClr val="bg1"/>
                </a:solidFill>
              </a:rPr>
              <a:t>As the sound intensity increases, the input voltage to LM3914 increases, resulting in more LEDs turning ON, providing a visual indication of audio level.</a:t>
            </a:r>
          </a:p>
          <a:p>
            <a:r>
              <a:rPr lang="en-US" b="1" dirty="0">
                <a:solidFill>
                  <a:schemeClr val="bg1"/>
                </a:solidFill>
              </a:rPr>
              <a:t>Thus, the circuit successfully converts audio signals into a visual LED display, making it useful for sound level monitoring and audio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79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936938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components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906073"/>
            <a:ext cx="10146920" cy="439169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Microphone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10K potentiometer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100 ohm resistor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9V battery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Lm3914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10 led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Connectors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Connecting wires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Cu plate(PCB)</a:t>
            </a:r>
          </a:p>
          <a:p>
            <a:pPr marL="457200" indent="-457200">
              <a:buAutoNum type="arabicPeriod"/>
            </a:pPr>
            <a:r>
              <a:rPr lang="en-IN" b="1" dirty="0" smtClean="0">
                <a:solidFill>
                  <a:schemeClr val="bg1"/>
                </a:solidFill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1881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441101"/>
            <a:ext cx="8799490" cy="885424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Role of lm3914 </a:t>
            </a:r>
            <a:r>
              <a:rPr lang="en-IN" b="1" u="sng" dirty="0" err="1" smtClean="0">
                <a:latin typeface="Algerian" panose="04020705040A02060702" pitchFamily="82" charset="0"/>
              </a:rPr>
              <a:t>ic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2215165"/>
            <a:ext cx="9116611" cy="357603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Lm3914 detects the amplitude of the amplified audio signal and converts it into corresponding voltage levels representing sound intensity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It divides the input voltage into 10 discrete levels and activates </a:t>
            </a:r>
            <a:r>
              <a:rPr lang="en-IN" b="1" dirty="0" err="1" smtClean="0">
                <a:solidFill>
                  <a:schemeClr val="bg1"/>
                </a:solidFill>
              </a:rPr>
              <a:t>leds</a:t>
            </a:r>
            <a:r>
              <a:rPr lang="en-IN" b="1" dirty="0" smtClean="0">
                <a:solidFill>
                  <a:schemeClr val="bg1"/>
                </a:solidFill>
              </a:rPr>
              <a:t> sequentially based on the signal strength.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911600"/>
            <a:ext cx="48768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7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1143001"/>
          </a:xfrm>
        </p:spPr>
        <p:txBody>
          <a:bodyPr>
            <a:normAutofit fontScale="90000"/>
          </a:bodyPr>
          <a:lstStyle/>
          <a:p>
            <a:r>
              <a:rPr lang="en-IN" b="1" u="sng" dirty="0" smtClean="0">
                <a:latin typeface="Algerian" panose="04020705040A02060702" pitchFamily="82" charset="0"/>
              </a:rPr>
              <a:t>Role of 10k potentiometer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2537138"/>
            <a:ext cx="10275710" cy="386366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The 10k potentiometer is used to adjust the sensitivity of audio level visualizer.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It controls the reference voltage of the lm3914.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Used as pre- amplifier.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3352800"/>
            <a:ext cx="3621454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98302"/>
          </a:xfrm>
        </p:spPr>
        <p:txBody>
          <a:bodyPr>
            <a:normAutofit fontScale="90000"/>
          </a:bodyPr>
          <a:lstStyle/>
          <a:p>
            <a:r>
              <a:rPr lang="en-IN" b="1" u="sng" dirty="0" smtClean="0">
                <a:latin typeface="Algerian" panose="04020705040A02060702" pitchFamily="82" charset="0"/>
              </a:rPr>
              <a:t>Role of 100 ohm resistor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2292439"/>
            <a:ext cx="10636318" cy="34987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The resistor is used to limit the flow of current through led to avoid damage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Improve the stability and reliability of the circuit.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12" y="3225800"/>
            <a:ext cx="2057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975575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Role of 9v battery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547" y="2343955"/>
            <a:ext cx="10018132" cy="33055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Provide necessary voltage to operate the active components.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Enables the audio level visualizer to work without mains electricity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827" y="3675030"/>
            <a:ext cx="3797173" cy="284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3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988455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Breadboard testing 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2047741"/>
            <a:ext cx="10597681" cy="408260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The circuit is first assembled on a breadboard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Working is verified before </a:t>
            </a:r>
            <a:r>
              <a:rPr lang="en-IN" b="1" dirty="0" err="1" smtClean="0">
                <a:solidFill>
                  <a:schemeClr val="bg1"/>
                </a:solidFill>
              </a:rPr>
              <a:t>pcb</a:t>
            </a:r>
            <a:r>
              <a:rPr lang="en-IN" b="1" dirty="0" smtClean="0">
                <a:solidFill>
                  <a:schemeClr val="bg1"/>
                </a:solidFill>
              </a:rPr>
              <a:t> fabrication.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924" y="3116686"/>
            <a:ext cx="7225048" cy="374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2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975576"/>
          </a:xfrm>
        </p:spPr>
        <p:txBody>
          <a:bodyPr/>
          <a:lstStyle/>
          <a:p>
            <a:pPr algn="ctr"/>
            <a:r>
              <a:rPr lang="en-IN" b="1" u="sng" dirty="0" err="1" smtClean="0"/>
              <a:t>Pcb</a:t>
            </a:r>
            <a:r>
              <a:rPr lang="en-IN" b="1" u="sng" dirty="0" smtClean="0"/>
              <a:t> design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545" y="1893194"/>
            <a:ext cx="10674954" cy="41427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After successful testing, the circuit is converted into PCB layout.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Proper component placement is done.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Tracks are routed to avoid short circuit.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0" y="2628900"/>
            <a:ext cx="60325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34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98302"/>
          </a:xfrm>
        </p:spPr>
        <p:txBody>
          <a:bodyPr>
            <a:normAutofit fontScale="90000"/>
          </a:bodyPr>
          <a:lstStyle/>
          <a:p>
            <a:r>
              <a:rPr lang="en-IN" b="1" u="sng" dirty="0" err="1" smtClean="0">
                <a:latin typeface="Algerian" panose="04020705040A02060702" pitchFamily="82" charset="0"/>
              </a:rPr>
              <a:t>Pcb</a:t>
            </a:r>
            <a:r>
              <a:rPr lang="en-IN" b="1" u="sng" dirty="0" smtClean="0">
                <a:latin typeface="Algerian" panose="04020705040A02060702" pitchFamily="82" charset="0"/>
              </a:rPr>
              <a:t> fabrication process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2472743"/>
            <a:ext cx="10739349" cy="400532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Copper board is cleaned properly.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PCB layout is transferred using ironing method.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Etching is done using ferric chloride solution.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Drilling is performed for component mounting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Final PCB is cleaned and inspected</a:t>
            </a:r>
          </a:p>
        </p:txBody>
      </p:sp>
    </p:spTree>
    <p:extLst>
      <p:ext uri="{BB962C8B-B14F-4D97-AF65-F5344CB8AC3E}">
        <p14:creationId xmlns:p14="http://schemas.microsoft.com/office/powerpoint/2010/main" val="224508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33908"/>
          </a:xfrm>
        </p:spPr>
        <p:txBody>
          <a:bodyPr>
            <a:normAutofit/>
          </a:bodyPr>
          <a:lstStyle/>
          <a:p>
            <a:r>
              <a:rPr lang="en-IN" sz="4000" b="1" u="sng" dirty="0" smtClean="0">
                <a:latin typeface="Algerian" panose="04020705040A02060702" pitchFamily="82" charset="0"/>
              </a:rPr>
              <a:t>Process of </a:t>
            </a:r>
            <a:r>
              <a:rPr lang="en-IN" sz="4000" b="1" u="sng" dirty="0" err="1" smtClean="0">
                <a:latin typeface="Algerian" panose="04020705040A02060702" pitchFamily="82" charset="0"/>
              </a:rPr>
              <a:t>pcb</a:t>
            </a:r>
            <a:r>
              <a:rPr lang="en-IN" sz="4000" b="1" u="sng" dirty="0" smtClean="0">
                <a:latin typeface="Algerian" panose="04020705040A02060702" pitchFamily="82" charset="0"/>
              </a:rPr>
              <a:t> fabrication</a:t>
            </a:r>
            <a:endParaRPr lang="en-IN" sz="4000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918953"/>
            <a:ext cx="712788" cy="387224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1816100"/>
            <a:ext cx="4344988" cy="481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816100"/>
            <a:ext cx="3949699" cy="481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17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78239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Component mounting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2137893"/>
            <a:ext cx="10842380" cy="365330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All components are soldered carefully on PCB.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Solder joints are checked.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Continuity test is performed using </a:t>
            </a:r>
            <a:r>
              <a:rPr lang="en-IN" b="1" dirty="0" err="1" smtClean="0">
                <a:solidFill>
                  <a:schemeClr val="bg1"/>
                </a:solidFill>
              </a:rPr>
              <a:t>multimetre</a:t>
            </a:r>
            <a:r>
              <a:rPr lang="en-IN" b="1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25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962697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Final hardware setup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2434107"/>
            <a:ext cx="10855258" cy="399245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The complete system is assembled.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The </a:t>
            </a: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ic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, potentiometer </a:t>
            </a: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leds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, switch, battery and mic are connected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The system is ready for real time operation</a:t>
            </a:r>
          </a:p>
        </p:txBody>
      </p:sp>
    </p:spTree>
    <p:extLst>
      <p:ext uri="{BB962C8B-B14F-4D97-AF65-F5344CB8AC3E}">
        <p14:creationId xmlns:p14="http://schemas.microsoft.com/office/powerpoint/2010/main" val="3901692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949818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Algerian" panose="04020705040A02060702" pitchFamily="82" charset="0"/>
              </a:rPr>
              <a:t>result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2305318"/>
            <a:ext cx="10610560" cy="34858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The </a:t>
            </a:r>
            <a:r>
              <a:rPr lang="en-IN" b="1" dirty="0" err="1" smtClean="0">
                <a:solidFill>
                  <a:schemeClr val="bg1"/>
                </a:solidFill>
              </a:rPr>
              <a:t>leds</a:t>
            </a:r>
            <a:r>
              <a:rPr lang="en-IN" b="1" dirty="0" smtClean="0">
                <a:solidFill>
                  <a:schemeClr val="bg1"/>
                </a:solidFill>
              </a:rPr>
              <a:t> are glowing according to the magnitude of input signal through the mic.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175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571923" cy="911181"/>
          </a:xfrm>
        </p:spPr>
        <p:txBody>
          <a:bodyPr>
            <a:normAutofit fontScale="90000"/>
          </a:bodyPr>
          <a:lstStyle/>
          <a:p>
            <a:r>
              <a:rPr lang="en-IN" b="1" u="sng" dirty="0" smtClean="0">
                <a:latin typeface="Algerian" panose="04020705040A02060702" pitchFamily="82" charset="0"/>
              </a:rPr>
              <a:t>Advantages, applications and future scope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714500"/>
            <a:ext cx="10834688" cy="4902199"/>
          </a:xfrm>
        </p:spPr>
        <p:txBody>
          <a:bodyPr>
            <a:normAutofit lnSpcReduction="10000"/>
          </a:bodyPr>
          <a:lstStyle/>
          <a:p>
            <a:r>
              <a:rPr lang="en-IN" b="1" i="1" u="sng" dirty="0" smtClean="0">
                <a:solidFill>
                  <a:schemeClr val="bg1"/>
                </a:solidFill>
              </a:rPr>
              <a:t>ADVANTAGES:-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Provides real time visual indication of audio strength.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Helps in preventing damage in speakers</a:t>
            </a:r>
          </a:p>
          <a:p>
            <a:endParaRPr lang="en-IN" dirty="0"/>
          </a:p>
          <a:p>
            <a:r>
              <a:rPr lang="en-IN" b="1" u="sng" dirty="0" smtClean="0">
                <a:solidFill>
                  <a:schemeClr val="bg1"/>
                </a:solidFill>
              </a:rPr>
              <a:t>APPLICATIONS:-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Used in music systems, DJ consoles and home theatres to display sound intensity.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Helps in audio testing and calibration.</a:t>
            </a:r>
          </a:p>
          <a:p>
            <a:r>
              <a:rPr lang="en-IN" b="1" u="sng" dirty="0" smtClean="0">
                <a:solidFill>
                  <a:schemeClr val="bg1"/>
                </a:solidFill>
              </a:rPr>
              <a:t>FUTURE SCOPE:-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Use in smart vehicles, and smart devices.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b="1" dirty="0" smtClean="0">
                <a:solidFill>
                  <a:schemeClr val="bg1"/>
                </a:solidFill>
              </a:rPr>
              <a:t>Integration with </a:t>
            </a:r>
            <a:r>
              <a:rPr lang="en-IN" b="1" dirty="0" err="1" smtClean="0">
                <a:solidFill>
                  <a:schemeClr val="bg1"/>
                </a:solidFill>
              </a:rPr>
              <a:t>iot</a:t>
            </a:r>
            <a:r>
              <a:rPr lang="en-IN" b="1" dirty="0" smtClean="0">
                <a:solidFill>
                  <a:schemeClr val="bg1"/>
                </a:solidFill>
              </a:rPr>
              <a:t>, microcontrollers, and mobile apps for smart audio monitoring.</a:t>
            </a:r>
          </a:p>
          <a:p>
            <a:endParaRPr lang="en-IN" b="1" u="sng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3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5953"/>
            <a:ext cx="12181435" cy="686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8786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246</TotalTime>
  <Words>947</Words>
  <Application>Microsoft Office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Algerian</vt:lpstr>
      <vt:lpstr>Arial</vt:lpstr>
      <vt:lpstr>Bahnschrift SemiBold</vt:lpstr>
      <vt:lpstr>Century Gothic</vt:lpstr>
      <vt:lpstr>Wingdings</vt:lpstr>
      <vt:lpstr>Wingdings 3</vt:lpstr>
      <vt:lpstr>Slice</vt:lpstr>
      <vt:lpstr>AUDIO LEVEL VISUALISER </vt:lpstr>
      <vt:lpstr>INTRODUCTION</vt:lpstr>
      <vt:lpstr>Why this ?</vt:lpstr>
      <vt:lpstr>Objective</vt:lpstr>
      <vt:lpstr>Block diagram </vt:lpstr>
      <vt:lpstr>Working principle</vt:lpstr>
      <vt:lpstr>PowerPoint Presentation</vt:lpstr>
      <vt:lpstr>components</vt:lpstr>
      <vt:lpstr>Role of lm3914 ic</vt:lpstr>
      <vt:lpstr>Role of 10k potentiometer</vt:lpstr>
      <vt:lpstr>Role of 100 ohm resistor</vt:lpstr>
      <vt:lpstr>Role of 9v battery</vt:lpstr>
      <vt:lpstr>Breadboard testing </vt:lpstr>
      <vt:lpstr>Pcb design</vt:lpstr>
      <vt:lpstr>Pcb fabrication process</vt:lpstr>
      <vt:lpstr>Process of pcb fabrication</vt:lpstr>
      <vt:lpstr>Component mounting</vt:lpstr>
      <vt:lpstr>Final hardware setup</vt:lpstr>
      <vt:lpstr>result</vt:lpstr>
      <vt:lpstr>Advantages, applications and future scope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LEVEL VISUALISER</dc:title>
  <dc:creator>Admin</dc:creator>
  <cp:lastModifiedBy>Admin</cp:lastModifiedBy>
  <cp:revision>19</cp:revision>
  <dcterms:created xsi:type="dcterms:W3CDTF">2025-12-30T13:02:25Z</dcterms:created>
  <dcterms:modified xsi:type="dcterms:W3CDTF">2025-12-30T17:09:08Z</dcterms:modified>
</cp:coreProperties>
</file>